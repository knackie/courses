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5" r:id="rId9"/>
    <p:sldId id="276" r:id="rId10"/>
    <p:sldId id="275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962DF-6EAF-46F1-AE6F-765879B5015E}" v="121" dt="2026-02-03T08:12:54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3"/>
    <p:restoredTop sz="94718"/>
  </p:normalViewPr>
  <p:slideViewPr>
    <p:cSldViewPr snapToGrid="0">
      <p:cViewPr varScale="1">
        <p:scale>
          <a:sx n="120" d="100"/>
          <a:sy n="12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2CC1C-2EFA-41CD-8EE1-D64C4317C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3A9A9-5F67-4774-9AE0-18456713E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956093-EDCF-4DD8-9AE7-E9C61FFE6CA3}" type="datetime1">
              <a:rPr lang="en-GB" smtClean="0"/>
              <a:t>10/02/2026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A631-0269-4E45-A3DF-4FA7D06E9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B2A7-A232-444D-B3CD-C3D1E5A8E2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F9F022-6C35-409F-B2A6-FFC7C9918F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B472-568D-400E-87C6-085D0E89D1DB}" type="datetime1">
              <a:rPr lang="en-GB" noProof="0" smtClean="0"/>
              <a:pPr/>
              <a:t>10/02/2026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5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17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7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828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61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A555-632D-43B9-25CA-0CC42FC7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DDCB1-7DC0-27FA-9DD4-1B2FC192B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B3B24-1C7A-6DE2-12B9-23E3B43EB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FEB7-9A49-D522-297A-9E714BD50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499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9216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A593-6F31-302E-3157-E370A2B6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B9642-6288-5AAE-08F2-91B0E52E3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86B3E-1C07-AFC7-7F2F-755CF5677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F8234-8502-0B6A-1E61-89C994A88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856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1154-361C-1BC7-4767-D3E736CA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B4466-EAF9-5614-B922-9FB46040E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D459D-CBF8-20E7-B70B-CE71F432E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0D2AF-AD9B-649E-C9C7-B4EBEB773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64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9565-63DD-B1A5-9295-0FFD8E19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6466-8C70-4426-E599-E654249A7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55CF2-3184-3026-514B-4150D74D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528F-7FB5-C780-847C-9268572E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173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0003-1817-6116-A0BE-6B62E023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F548C-E11E-D81F-77F6-843275C3C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834AA-930A-3C96-12AE-5692E36CA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6D3BD-20B7-34F7-E2A5-1F9224C47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55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EA09586C-5A81-443E-A8F0-7DBA8A56A402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640C98F9-CB0E-4FA9-9591-FB0CE9CF7143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DEF7267A-46F7-4D2F-B4E6-AE992D5484B8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016F812-AB39-4F48-B1E8-95605A3EF510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2570B71-EA3C-4900-991E-6BBB6BBDE064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ADE8980-1565-4B47-9723-42A8A150F178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75CEC1F-EF25-4059-ABBA-8FEB7C2BFD5C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26E9C68-1964-4A8A-9427-98F10662CAE8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46A679D-7D96-4BF4-98D0-1033E9142F9A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496CE679-96C2-428D-9AAE-1AD24CC6A009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0FAF51C5-1188-4161-A3AE-51B85A4E9234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r>
              <a:rPr lang="en-GB" b="0" dirty="0" err="1">
                <a:ea typeface="+mj-lt"/>
                <a:cs typeface="+mj-lt"/>
              </a:rPr>
              <a:t>Maîtriser</a:t>
            </a:r>
            <a:r>
              <a:rPr lang="en-GB" b="0" dirty="0">
                <a:ea typeface="+mj-lt"/>
                <a:cs typeface="+mj-lt"/>
              </a:rPr>
              <a:t> la recherche Google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+mn-lt"/>
                <a:cs typeface="+mn-lt"/>
              </a:rPr>
              <a:t>🔎 </a:t>
            </a:r>
            <a:r>
              <a:rPr lang="en-GB" dirty="0" err="1">
                <a:ea typeface="+mn-lt"/>
                <a:cs typeface="+mn-lt"/>
              </a:rPr>
              <a:t>Trouver</a:t>
            </a:r>
            <a:r>
              <a:rPr lang="en-GB" dirty="0">
                <a:ea typeface="+mn-lt"/>
                <a:cs typeface="+mn-lt"/>
              </a:rPr>
              <a:t> la bonne information, </a:t>
            </a:r>
            <a:r>
              <a:rPr lang="en-GB" dirty="0" err="1">
                <a:ea typeface="+mn-lt"/>
                <a:cs typeface="+mn-lt"/>
              </a:rPr>
              <a:t>rapidement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Pourquoi</a:t>
            </a:r>
            <a:r>
              <a:rPr lang="en-GB" dirty="0">
                <a:ea typeface="+mj-lt"/>
                <a:cs typeface="+mj-lt"/>
              </a:rPr>
              <a:t> bien </a:t>
            </a:r>
            <a:r>
              <a:rPr lang="en-GB" dirty="0" err="1">
                <a:ea typeface="+mj-lt"/>
                <a:cs typeface="+mj-lt"/>
              </a:rPr>
              <a:t>chercher</a:t>
            </a:r>
            <a:r>
              <a:rPr lang="en-GB" dirty="0">
                <a:ea typeface="+mj-lt"/>
                <a:cs typeface="+mj-lt"/>
              </a:rPr>
              <a:t> est important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Google affiche des millions de </a:t>
            </a:r>
            <a:r>
              <a:rPr lang="en-GB" dirty="0" err="1">
                <a:ea typeface="+mn-lt"/>
                <a:cs typeface="+mn-lt"/>
              </a:rPr>
              <a:t>résultats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Les premiers </a:t>
            </a:r>
            <a:r>
              <a:rPr lang="en-GB" dirty="0" err="1">
                <a:ea typeface="+mn-lt"/>
                <a:cs typeface="+mn-lt"/>
              </a:rPr>
              <a:t>résultats</a:t>
            </a:r>
            <a:r>
              <a:rPr lang="en-GB" dirty="0">
                <a:ea typeface="+mn-lt"/>
                <a:cs typeface="+mn-lt"/>
              </a:rPr>
              <a:t> ne sont pas toujours les meilleurs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Une bonne recherche =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👉 gain de temps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👉 information </a:t>
            </a:r>
            <a:r>
              <a:rPr lang="en-GB" dirty="0" err="1">
                <a:ea typeface="+mn-lt"/>
                <a:cs typeface="+mn-lt"/>
              </a:rPr>
              <a:t>fiable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👉 </a:t>
            </a:r>
            <a:r>
              <a:rPr lang="en-GB" dirty="0" err="1">
                <a:ea typeface="+mn-lt"/>
                <a:cs typeface="+mn-lt"/>
              </a:rPr>
              <a:t>moins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d’erreurs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Comment Google </a:t>
            </a:r>
            <a:r>
              <a:rPr lang="en-GB" b="0" dirty="0" err="1">
                <a:ea typeface="+mj-lt"/>
                <a:cs typeface="+mj-lt"/>
              </a:rPr>
              <a:t>comprend</a:t>
            </a:r>
            <a:r>
              <a:rPr lang="en-GB" b="0" dirty="0">
                <a:ea typeface="+mj-lt"/>
                <a:cs typeface="+mj-lt"/>
              </a:rPr>
              <a:t> </a:t>
            </a:r>
            <a:r>
              <a:rPr lang="en-GB" b="0" dirty="0" err="1">
                <a:ea typeface="+mj-lt"/>
                <a:cs typeface="+mj-lt"/>
              </a:rPr>
              <a:t>une</a:t>
            </a:r>
            <a:r>
              <a:rPr lang="en-GB" b="0" dirty="0">
                <a:ea typeface="+mj-lt"/>
                <a:cs typeface="+mj-lt"/>
              </a:rPr>
              <a:t> recherche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>
                <a:ea typeface="+mn-lt"/>
                <a:cs typeface="+mn-lt"/>
              </a:rPr>
              <a:t>Google analyse </a:t>
            </a:r>
            <a:r>
              <a:rPr lang="en-GB" err="1">
                <a:ea typeface="+mn-lt"/>
                <a:cs typeface="+mn-lt"/>
              </a:rPr>
              <a:t>principalement</a:t>
            </a:r>
            <a:r>
              <a:rPr lang="en-GB">
                <a:ea typeface="+mn-lt"/>
                <a:cs typeface="+mn-lt"/>
              </a:rPr>
              <a:t> :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Les </a:t>
            </a:r>
            <a:r>
              <a:rPr lang="en-GB" b="1">
                <a:ea typeface="+mn-lt"/>
                <a:cs typeface="+mn-lt"/>
              </a:rPr>
              <a:t>mots-</a:t>
            </a:r>
            <a:r>
              <a:rPr lang="en-GB" b="1" err="1">
                <a:ea typeface="+mn-lt"/>
                <a:cs typeface="+mn-lt"/>
              </a:rPr>
              <a:t>clés</a:t>
            </a:r>
            <a:endParaRPr lang="en-GB" err="1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Leur </a:t>
            </a:r>
            <a:r>
              <a:rPr lang="en-GB" b="1" err="1">
                <a:ea typeface="+mn-lt"/>
                <a:cs typeface="+mn-lt"/>
              </a:rPr>
              <a:t>ordre</a:t>
            </a:r>
            <a:endParaRPr lang="en-GB" err="1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Leur </a:t>
            </a:r>
            <a:r>
              <a:rPr lang="en-GB" b="1" err="1">
                <a:ea typeface="+mn-lt"/>
                <a:cs typeface="+mn-lt"/>
              </a:rPr>
              <a:t>contexte</a:t>
            </a:r>
            <a:endParaRPr lang="en-GB" err="1"/>
          </a:p>
          <a:p>
            <a:r>
              <a:rPr lang="en-GB" dirty="0">
                <a:ea typeface="+mn-lt"/>
                <a:cs typeface="+mn-lt"/>
              </a:rPr>
              <a:t>❌ Google ne </a:t>
            </a:r>
            <a:r>
              <a:rPr lang="en-GB" dirty="0" err="1">
                <a:ea typeface="+mn-lt"/>
                <a:cs typeface="+mn-lt"/>
              </a:rPr>
              <a:t>comprend</a:t>
            </a:r>
            <a:r>
              <a:rPr lang="en-GB" dirty="0">
                <a:ea typeface="+mn-lt"/>
                <a:cs typeface="+mn-lt"/>
              </a:rPr>
              <a:t> pas les phrases longues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✅ Il </a:t>
            </a:r>
            <a:r>
              <a:rPr lang="en-GB" dirty="0" err="1">
                <a:ea typeface="+mn-lt"/>
                <a:cs typeface="+mn-lt"/>
              </a:rPr>
              <a:t>comprend</a:t>
            </a:r>
            <a:r>
              <a:rPr lang="en-GB" dirty="0">
                <a:ea typeface="+mn-lt"/>
                <a:cs typeface="+mn-lt"/>
              </a:rPr>
              <a:t> des </a:t>
            </a:r>
            <a:r>
              <a:rPr lang="en-GB" b="1" dirty="0" err="1">
                <a:ea typeface="+mn-lt"/>
                <a:cs typeface="+mn-lt"/>
              </a:rPr>
              <a:t>termes</a:t>
            </a:r>
            <a:r>
              <a:rPr lang="en-GB" b="1" dirty="0">
                <a:ea typeface="+mn-lt"/>
                <a:cs typeface="+mn-lt"/>
              </a:rPr>
              <a:t> précis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Bien </a:t>
            </a:r>
            <a:r>
              <a:rPr lang="en-GB" b="0" dirty="0" err="1">
                <a:ea typeface="+mj-lt"/>
                <a:cs typeface="+mj-lt"/>
              </a:rPr>
              <a:t>choisir</a:t>
            </a:r>
            <a:r>
              <a:rPr lang="en-GB" b="0" dirty="0">
                <a:ea typeface="+mj-lt"/>
                <a:cs typeface="+mj-lt"/>
              </a:rPr>
              <a:t> </a:t>
            </a:r>
            <a:r>
              <a:rPr lang="en-GB" b="0" dirty="0" err="1">
                <a:ea typeface="+mj-lt"/>
                <a:cs typeface="+mj-lt"/>
              </a:rPr>
              <a:t>ses</a:t>
            </a:r>
            <a:r>
              <a:rPr lang="en-GB" b="0" dirty="0">
                <a:ea typeface="+mj-lt"/>
                <a:cs typeface="+mj-lt"/>
              </a:rPr>
              <a:t> mots-</a:t>
            </a:r>
            <a:r>
              <a:rPr lang="en-GB" b="0" dirty="0" err="1">
                <a:ea typeface="+mj-lt"/>
                <a:cs typeface="+mj-lt"/>
              </a:rPr>
              <a:t>clés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176" y="3539075"/>
            <a:ext cx="7025230" cy="17264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000">
                <a:ea typeface="+mn-lt"/>
                <a:cs typeface="+mn-lt"/>
              </a:rPr>
              <a:t>❌ Mauvais </a:t>
            </a:r>
            <a:r>
              <a:rPr lang="en-GB" sz="2000" err="1">
                <a:ea typeface="+mn-lt"/>
                <a:cs typeface="+mn-lt"/>
              </a:rPr>
              <a:t>exemple</a:t>
            </a:r>
            <a:r>
              <a:rPr lang="en-GB" sz="2000">
                <a:ea typeface="+mn-lt"/>
                <a:cs typeface="+mn-lt"/>
              </a:rPr>
              <a:t> :</a:t>
            </a:r>
            <a:endParaRPr lang="en-US"/>
          </a:p>
          <a:p>
            <a:r>
              <a:rPr lang="en-GB" sz="2000">
                <a:ea typeface="+mn-lt"/>
                <a:cs typeface="+mn-lt"/>
              </a:rPr>
              <a:t>Comment </a:t>
            </a:r>
            <a:r>
              <a:rPr lang="en-GB" sz="2000" err="1">
                <a:ea typeface="+mn-lt"/>
                <a:cs typeface="+mn-lt"/>
              </a:rPr>
              <a:t>réparer</a:t>
            </a:r>
            <a:r>
              <a:rPr lang="en-GB" sz="2000">
                <a:ea typeface="+mn-lt"/>
                <a:cs typeface="+mn-lt"/>
              </a:rPr>
              <a:t> </a:t>
            </a:r>
            <a:r>
              <a:rPr lang="en-GB" sz="2000" err="1">
                <a:ea typeface="+mn-lt"/>
                <a:cs typeface="+mn-lt"/>
              </a:rPr>
              <a:t>mon</a:t>
            </a:r>
            <a:r>
              <a:rPr lang="en-GB" sz="2000">
                <a:ea typeface="+mn-lt"/>
                <a:cs typeface="+mn-lt"/>
              </a:rPr>
              <a:t> ordinateur qui ne démarre plus</a:t>
            </a:r>
            <a:endParaRPr lang="en-GB"/>
          </a:p>
          <a:p>
            <a:r>
              <a:rPr lang="en-GB" sz="2000">
                <a:ea typeface="+mn-lt"/>
                <a:cs typeface="+mn-lt"/>
              </a:rPr>
              <a:t>✅ Bon </a:t>
            </a:r>
            <a:r>
              <a:rPr lang="en-GB" sz="2000" err="1">
                <a:ea typeface="+mn-lt"/>
                <a:cs typeface="+mn-lt"/>
              </a:rPr>
              <a:t>exemple</a:t>
            </a:r>
            <a:r>
              <a:rPr lang="en-GB" sz="2000">
                <a:ea typeface="+mn-lt"/>
                <a:cs typeface="+mn-lt"/>
              </a:rPr>
              <a:t> :</a:t>
            </a:r>
            <a:endParaRPr lang="en-US"/>
          </a:p>
          <a:p>
            <a:r>
              <a:rPr lang="en-GB" sz="2000" dirty="0">
                <a:ea typeface="+mn-lt"/>
                <a:cs typeface="+mn-lt"/>
              </a:rPr>
              <a:t>PC ne </a:t>
            </a:r>
            <a:r>
              <a:rPr lang="en-GB" sz="2000" dirty="0" err="1">
                <a:ea typeface="+mn-lt"/>
                <a:cs typeface="+mn-lt"/>
              </a:rPr>
              <a:t>démarre</a:t>
            </a:r>
            <a:r>
              <a:rPr lang="en-GB" sz="2000" dirty="0">
                <a:ea typeface="+mn-lt"/>
                <a:cs typeface="+mn-lt"/>
              </a:rPr>
              <a:t> plus </a:t>
            </a:r>
            <a:r>
              <a:rPr lang="en-GB" sz="2000" dirty="0" err="1">
                <a:ea typeface="+mn-lt"/>
                <a:cs typeface="+mn-lt"/>
              </a:rPr>
              <a:t>écran</a:t>
            </a:r>
            <a:r>
              <a:rPr lang="en-GB" sz="2000" dirty="0">
                <a:ea typeface="+mn-lt"/>
                <a:cs typeface="+mn-lt"/>
              </a:rPr>
              <a:t> noir Windows 10</a:t>
            </a:r>
            <a:endParaRPr lang="en-US" dirty="0"/>
          </a:p>
          <a:p>
            <a:r>
              <a:rPr lang="en-GB" sz="2000" dirty="0">
                <a:ea typeface="+mn-lt"/>
                <a:cs typeface="+mn-lt"/>
              </a:rPr>
              <a:t>Bonnes pratiques :</a:t>
            </a:r>
            <a:endParaRPr lang="en-GB" dirty="0"/>
          </a:p>
          <a:p>
            <a:r>
              <a:rPr lang="en-GB" sz="2000" dirty="0" err="1">
                <a:ea typeface="+mn-lt"/>
                <a:cs typeface="+mn-lt"/>
              </a:rPr>
              <a:t>Supprimer</a:t>
            </a:r>
            <a:r>
              <a:rPr lang="en-GB" sz="2000" dirty="0">
                <a:ea typeface="+mn-lt"/>
                <a:cs typeface="+mn-lt"/>
              </a:rPr>
              <a:t> les mots </a:t>
            </a:r>
            <a:r>
              <a:rPr lang="en-GB" sz="2000" dirty="0" err="1">
                <a:ea typeface="+mn-lt"/>
                <a:cs typeface="+mn-lt"/>
              </a:rPr>
              <a:t>inutiles</a:t>
            </a:r>
            <a:endParaRPr lang="en-GB" dirty="0" err="1"/>
          </a:p>
          <a:p>
            <a:r>
              <a:rPr lang="en-GB" sz="2000" dirty="0" err="1">
                <a:ea typeface="+mn-lt"/>
                <a:cs typeface="+mn-lt"/>
              </a:rPr>
              <a:t>Ajouter</a:t>
            </a:r>
            <a:r>
              <a:rPr lang="en-GB" sz="2000" dirty="0">
                <a:ea typeface="+mn-lt"/>
                <a:cs typeface="+mn-lt"/>
              </a:rPr>
              <a:t> version, marque, type de </a:t>
            </a:r>
            <a:r>
              <a:rPr lang="en-GB" sz="2000" dirty="0" err="1">
                <a:ea typeface="+mn-lt"/>
                <a:cs typeface="+mn-lt"/>
              </a:rPr>
              <a:t>problème</a:t>
            </a:r>
            <a:endParaRPr lang="en-GB" dirty="0" err="1"/>
          </a:p>
          <a:p>
            <a:r>
              <a:rPr lang="en-GB" sz="2000" dirty="0">
                <a:ea typeface="+mn-lt"/>
                <a:cs typeface="+mn-lt"/>
              </a:rPr>
              <a:t>Aller à </a:t>
            </a:r>
            <a:r>
              <a:rPr lang="en-GB" sz="2000" dirty="0" err="1">
                <a:ea typeface="+mn-lt"/>
                <a:cs typeface="+mn-lt"/>
              </a:rPr>
              <a:t>l’essentiel</a:t>
            </a:r>
            <a:endParaRPr lang="en-GB" dirty="0" err="1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Les guillemets " " (recherche </a:t>
            </a:r>
            <a:r>
              <a:rPr lang="en-GB" b="0" dirty="0" err="1">
                <a:ea typeface="+mj-lt"/>
                <a:cs typeface="+mj-lt"/>
              </a:rPr>
              <a:t>exacte</a:t>
            </a:r>
            <a:r>
              <a:rPr lang="en-GB" b="0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22350" y="2069189"/>
            <a:ext cx="10142582" cy="359772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b="0" dirty="0">
                <a:ea typeface="+mj-lt"/>
                <a:cs typeface="+mj-lt"/>
              </a:rPr>
              <a:t>Forcer Google à </a:t>
            </a:r>
            <a:r>
              <a:rPr lang="en-GB" b="0" err="1">
                <a:ea typeface="+mj-lt"/>
                <a:cs typeface="+mj-lt"/>
              </a:rPr>
              <a:t>chercher</a:t>
            </a:r>
            <a:r>
              <a:rPr lang="en-GB" b="0" dirty="0">
                <a:ea typeface="+mj-lt"/>
                <a:cs typeface="+mj-lt"/>
              </a:rPr>
              <a:t> </a:t>
            </a:r>
            <a:r>
              <a:rPr lang="en-GB" err="1">
                <a:ea typeface="+mj-lt"/>
                <a:cs typeface="+mj-lt"/>
              </a:rPr>
              <a:t>une</a:t>
            </a:r>
            <a:r>
              <a:rPr lang="en-GB" dirty="0">
                <a:ea typeface="+mj-lt"/>
                <a:cs typeface="+mj-lt"/>
              </a:rPr>
              <a:t> phrase </a:t>
            </a:r>
            <a:r>
              <a:rPr lang="en-GB" err="1">
                <a:ea typeface="+mj-lt"/>
                <a:cs typeface="+mj-lt"/>
              </a:rPr>
              <a:t>précise</a:t>
            </a:r>
            <a:endParaRPr lang="en-US" err="1">
              <a:ea typeface="+mj-lt"/>
              <a:cs typeface="+mj-lt"/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0" dirty="0">
                <a:ea typeface="+mj-lt"/>
                <a:cs typeface="+mj-lt"/>
              </a:rPr>
              <a:t>➡️ Très utile pour :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b="0" dirty="0">
                <a:ea typeface="+mj-lt"/>
                <a:cs typeface="+mj-lt"/>
              </a:rPr>
              <a:t>Messages </a:t>
            </a:r>
            <a:r>
              <a:rPr lang="en-GB" b="0" dirty="0" err="1">
                <a:ea typeface="+mj-lt"/>
                <a:cs typeface="+mj-lt"/>
              </a:rPr>
              <a:t>d’erreur</a:t>
            </a:r>
            <a:endParaRPr lang="en-GB" dirty="0" err="1"/>
          </a:p>
          <a:p>
            <a:pPr marL="285750" indent="-285750">
              <a:buFont typeface="Arial"/>
              <a:buChar char="•"/>
            </a:pPr>
            <a:r>
              <a:rPr lang="en-GB" b="0" dirty="0">
                <a:ea typeface="+mj-lt"/>
                <a:cs typeface="+mj-lt"/>
              </a:rPr>
              <a:t>Citations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b="0" dirty="0">
                <a:ea typeface="+mj-lt"/>
                <a:cs typeface="+mj-lt"/>
              </a:rPr>
              <a:t>Titres précis</a:t>
            </a:r>
            <a:endParaRPr lang="en-GB" dirty="0"/>
          </a:p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1986A-9AF9-5C45-BE85-20D5AA267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448B0-743E-0045-8131-69B4EEC58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5</a:t>
            </a:fld>
            <a:endParaRPr lang="en-GB"/>
          </a:p>
        </p:txBody>
      </p:sp>
      <p:pic>
        <p:nvPicPr>
          <p:cNvPr id="4" name="Picture 3" descr="A black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7F4E2F01-0D0A-7768-4F04-D3B5F1DCB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26" y="2679331"/>
            <a:ext cx="11016641" cy="149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7124-8400-D69C-0F05-6F5B2CF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3A1F-4D3C-0718-9DA6-8DA670F1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Le </a:t>
            </a:r>
            <a:r>
              <a:rPr lang="en-GB" dirty="0" err="1">
                <a:ea typeface="+mj-lt"/>
                <a:cs typeface="+mj-lt"/>
              </a:rPr>
              <a:t>signe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moins</a:t>
            </a:r>
            <a:r>
              <a:rPr lang="en-GB" dirty="0">
                <a:ea typeface="+mj-lt"/>
                <a:cs typeface="+mj-lt"/>
              </a:rPr>
              <a:t> - (</a:t>
            </a:r>
            <a:r>
              <a:rPr lang="en-GB" dirty="0" err="1">
                <a:ea typeface="+mj-lt"/>
                <a:cs typeface="+mj-lt"/>
              </a:rPr>
              <a:t>exclure</a:t>
            </a:r>
            <a:r>
              <a:rPr lang="en-GB" dirty="0">
                <a:ea typeface="+mj-lt"/>
                <a:cs typeface="+mj-lt"/>
              </a:rPr>
              <a:t> un mot)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36649-CFCC-2D49-1C28-C0799574C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Utilité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Éviter</a:t>
            </a:r>
            <a:r>
              <a:rPr lang="en-GB" dirty="0">
                <a:ea typeface="+mn-lt"/>
                <a:cs typeface="+mn-lt"/>
              </a:rPr>
              <a:t> un </a:t>
            </a:r>
            <a:r>
              <a:rPr lang="en-GB" dirty="0" err="1">
                <a:ea typeface="+mn-lt"/>
                <a:cs typeface="+mn-lt"/>
              </a:rPr>
              <a:t>sens</a:t>
            </a:r>
            <a:r>
              <a:rPr lang="en-GB" dirty="0">
                <a:ea typeface="+mn-lt"/>
                <a:cs typeface="+mn-lt"/>
              </a:rPr>
              <a:t> non </a:t>
            </a:r>
            <a:r>
              <a:rPr lang="en-GB" dirty="0" err="1">
                <a:ea typeface="+mn-lt"/>
                <a:cs typeface="+mn-lt"/>
              </a:rPr>
              <a:t>souhaité</a:t>
            </a:r>
          </a:p>
          <a:p>
            <a:r>
              <a:rPr lang="en-GB" dirty="0" err="1">
                <a:ea typeface="+mn-lt"/>
                <a:cs typeface="+mn-lt"/>
              </a:rPr>
              <a:t>Exemple</a:t>
            </a:r>
            <a:r>
              <a:rPr lang="en-GB" dirty="0">
                <a:ea typeface="+mn-lt"/>
                <a:cs typeface="+mn-lt"/>
              </a:rPr>
              <a:t> :</a:t>
            </a:r>
          </a:p>
          <a:p>
            <a:r>
              <a:rPr lang="en-GB" dirty="0">
                <a:latin typeface="Consolas"/>
                <a:ea typeface="+mn-lt"/>
                <a:cs typeface="+mn-lt"/>
              </a:rPr>
              <a:t>python -serpent
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➡️ </a:t>
            </a:r>
            <a:r>
              <a:rPr lang="en-GB" dirty="0" err="1">
                <a:ea typeface="+mn-lt"/>
                <a:cs typeface="+mn-lt"/>
              </a:rPr>
              <a:t>Idéal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quand</a:t>
            </a:r>
            <a:r>
              <a:rPr lang="en-GB" dirty="0">
                <a:ea typeface="+mn-lt"/>
                <a:cs typeface="+mn-lt"/>
              </a:rPr>
              <a:t> un mot a </a:t>
            </a:r>
            <a:r>
              <a:rPr lang="en-GB" b="1" dirty="0" err="1">
                <a:ea typeface="+mn-lt"/>
                <a:cs typeface="+mn-lt"/>
              </a:rPr>
              <a:t>plusieurs</a:t>
            </a:r>
            <a:r>
              <a:rPr lang="en-GB" b="1" dirty="0">
                <a:ea typeface="+mn-lt"/>
                <a:cs typeface="+mn-lt"/>
              </a:rPr>
              <a:t> significations</a:t>
            </a:r>
            <a:endParaRPr lang="en-GB" dirty="0">
              <a:ea typeface="+mn-lt"/>
              <a:cs typeface="+mn-lt"/>
            </a:endParaRPr>
          </a:p>
          <a:p>
            <a:endParaRPr lang="en-GB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9B257-43ED-753D-9E7A-712DFA2FA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AB175-EC76-F94F-6A65-536674609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29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374" y="1122363"/>
            <a:ext cx="6799398" cy="2336800"/>
          </a:xfrm>
        </p:spPr>
        <p:txBody>
          <a:bodyPr rtlCol="0"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636" y="3456896"/>
            <a:ext cx="6456134" cy="239236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GB" dirty="0" err="1">
                <a:ea typeface="+mn-lt"/>
                <a:cs typeface="+mn-lt"/>
              </a:rPr>
              <a:t>Syntaxe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>
              <a:ea typeface="+mn-lt"/>
              <a:cs typeface="+mn-lt"/>
            </a:endParaRPr>
          </a:p>
          <a:p>
            <a:r>
              <a:rPr lang="en-GB" dirty="0">
                <a:latin typeface="Consolas"/>
                <a:ea typeface="+mn-lt"/>
                <a:cs typeface="+mn-lt"/>
              </a:rPr>
              <a:t>mot1 OR mot2
</a:t>
            </a:r>
            <a:endParaRPr lang="en-GB"/>
          </a:p>
          <a:p>
            <a:r>
              <a:rPr lang="en-GB" dirty="0" err="1">
                <a:ea typeface="+mn-lt"/>
                <a:cs typeface="+mn-lt"/>
              </a:rPr>
              <a:t>Exemple</a:t>
            </a:r>
            <a:r>
              <a:rPr lang="en-GB" dirty="0">
                <a:ea typeface="+mn-lt"/>
                <a:cs typeface="+mn-lt"/>
              </a:rPr>
              <a:t> :</a:t>
            </a:r>
            <a:endParaRPr lang="en-GB">
              <a:ea typeface="+mn-lt"/>
              <a:cs typeface="+mn-lt"/>
            </a:endParaRPr>
          </a:p>
          <a:p>
            <a:r>
              <a:rPr lang="en-GB" dirty="0">
                <a:latin typeface="Consolas"/>
                <a:ea typeface="+mn-lt"/>
                <a:cs typeface="+mn-lt"/>
              </a:rPr>
              <a:t>formation </a:t>
            </a:r>
            <a:r>
              <a:rPr lang="en-GB" dirty="0" err="1">
                <a:latin typeface="Consolas"/>
                <a:ea typeface="+mn-lt"/>
                <a:cs typeface="+mn-lt"/>
              </a:rPr>
              <a:t>informatique</a:t>
            </a:r>
            <a:r>
              <a:rPr lang="en-GB" dirty="0">
                <a:latin typeface="Consolas"/>
                <a:ea typeface="+mn-lt"/>
                <a:cs typeface="+mn-lt"/>
              </a:rPr>
              <a:t> OR numérique
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⚠️ OR doit </a:t>
            </a:r>
            <a:r>
              <a:rPr lang="en-GB" dirty="0" err="1">
                <a:ea typeface="+mn-lt"/>
                <a:cs typeface="+mn-lt"/>
              </a:rPr>
              <a:t>être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b="1" dirty="0">
                <a:ea typeface="+mn-lt"/>
                <a:cs typeface="+mn-lt"/>
              </a:rPr>
              <a:t>MAJUSCULE</a:t>
            </a:r>
            <a:endParaRPr lang="en-GB">
              <a:ea typeface="+mn-lt"/>
              <a:cs typeface="+mn-lt"/>
            </a:endParaRPr>
          </a:p>
          <a:p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96167-7F4C-0FDA-1A27-D42DD9453C26}"/>
              </a:ext>
            </a:extLst>
          </p:cNvPr>
          <p:cNvSpPr txBox="1"/>
          <p:nvPr/>
        </p:nvSpPr>
        <p:spPr>
          <a:xfrm>
            <a:off x="1034143" y="1124857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+mn-lt"/>
                <a:cs typeface="+mn-lt"/>
              </a:rPr>
              <a:t>OR (</a:t>
            </a:r>
            <a:r>
              <a:rPr lang="en-US" sz="3200" dirty="0" err="1">
                <a:ea typeface="+mn-lt"/>
                <a:cs typeface="+mn-lt"/>
              </a:rPr>
              <a:t>choisir</a:t>
            </a:r>
            <a:r>
              <a:rPr lang="en-US" sz="3200" dirty="0">
                <a:ea typeface="+mn-lt"/>
                <a:cs typeface="+mn-lt"/>
              </a:rPr>
              <a:t> entre </a:t>
            </a:r>
            <a:r>
              <a:rPr lang="en-US" sz="3200" dirty="0" err="1">
                <a:ea typeface="+mn-lt"/>
                <a:cs typeface="+mn-lt"/>
              </a:rPr>
              <a:t>plusieurs</a:t>
            </a:r>
            <a:r>
              <a:rPr lang="en-US" sz="3200" dirty="0">
                <a:ea typeface="+mn-lt"/>
                <a:cs typeface="+mn-lt"/>
              </a:rPr>
              <a:t> mots)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EC37-7F46-2AE0-0FA6-E8769344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5050-60F2-C8D9-B1F9-EF7EFFFD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site: (</a:t>
            </a:r>
            <a:r>
              <a:rPr lang="en-GB" dirty="0" err="1">
                <a:ea typeface="+mj-lt"/>
                <a:cs typeface="+mj-lt"/>
              </a:rPr>
              <a:t>chercher</a:t>
            </a:r>
            <a:r>
              <a:rPr lang="en-GB" dirty="0">
                <a:ea typeface="+mj-lt"/>
                <a:cs typeface="+mj-lt"/>
              </a:rPr>
              <a:t> sur un site précis)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B6D31-064B-E35C-32EC-E6089BEE2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Utilité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Trouver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une</a:t>
            </a:r>
            <a:r>
              <a:rPr lang="en-GB" dirty="0">
                <a:ea typeface="+mn-lt"/>
                <a:cs typeface="+mn-lt"/>
              </a:rPr>
              <a:t> information </a:t>
            </a:r>
            <a:r>
              <a:rPr lang="en-GB" dirty="0" err="1">
                <a:ea typeface="+mn-lt"/>
                <a:cs typeface="+mn-lt"/>
              </a:rPr>
              <a:t>officielle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Explorer un site mal </a:t>
            </a:r>
            <a:r>
              <a:rPr lang="en-GB" dirty="0" err="1">
                <a:ea typeface="+mn-lt"/>
                <a:cs typeface="+mn-lt"/>
              </a:rPr>
              <a:t>organisé</a:t>
            </a:r>
            <a:endParaRPr lang="en-GB"/>
          </a:p>
          <a:p>
            <a:r>
              <a:rPr lang="en-GB" dirty="0" err="1">
                <a:ea typeface="+mn-lt"/>
                <a:cs typeface="+mn-lt"/>
              </a:rPr>
              <a:t>Exemple</a:t>
            </a:r>
            <a:r>
              <a:rPr lang="en-GB" dirty="0">
                <a:ea typeface="+mn-lt"/>
                <a:cs typeface="+mn-lt"/>
              </a:rPr>
              <a:t> :</a:t>
            </a:r>
            <a:endParaRPr lang="en-GB" dirty="0"/>
          </a:p>
          <a:p>
            <a:r>
              <a:rPr lang="en-GB" dirty="0">
                <a:latin typeface="Consolas"/>
                <a:ea typeface="+mn-lt"/>
                <a:cs typeface="+mn-lt"/>
              </a:rPr>
              <a:t>mot de passe Windows </a:t>
            </a:r>
            <a:r>
              <a:rPr lang="en-GB" dirty="0" err="1">
                <a:latin typeface="Consolas"/>
                <a:ea typeface="+mn-lt"/>
                <a:cs typeface="+mn-lt"/>
              </a:rPr>
              <a:t>site:microsoft.com</a:t>
            </a:r>
            <a:endParaRPr lang="en-GB" dirty="0" err="1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71B52-5B29-DD56-136A-E296C96A1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B2CAD-9CB6-79E2-BA0B-514312F3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56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8F8B-706F-94A3-BB77-CE927153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F75B-4F65-141E-391E-5999BE73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intitle: (mot dans le titre)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31D5-26AC-7491-DA88-57C867A3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Utilité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Trouver</a:t>
            </a:r>
            <a:r>
              <a:rPr lang="en-GB" dirty="0">
                <a:ea typeface="+mn-lt"/>
                <a:cs typeface="+mn-lt"/>
              </a:rPr>
              <a:t> des pages plus </a:t>
            </a:r>
            <a:r>
              <a:rPr lang="en-GB" dirty="0" err="1">
                <a:ea typeface="+mn-lt"/>
                <a:cs typeface="+mn-lt"/>
              </a:rPr>
              <a:t>pertinentes</a:t>
            </a:r>
            <a:endParaRPr lang="en-GB" dirty="0" err="1"/>
          </a:p>
          <a:p>
            <a:r>
              <a:rPr lang="en-GB" dirty="0" err="1">
                <a:ea typeface="+mn-lt"/>
                <a:cs typeface="+mn-lt"/>
              </a:rPr>
              <a:t>Exemple</a:t>
            </a:r>
            <a:r>
              <a:rPr lang="en-GB" dirty="0">
                <a:ea typeface="+mn-lt"/>
                <a:cs typeface="+mn-lt"/>
              </a:rPr>
              <a:t> :</a:t>
            </a:r>
          </a:p>
          <a:p>
            <a:r>
              <a:rPr lang="en-GB" dirty="0">
                <a:latin typeface="Consolas"/>
                <a:ea typeface="+mn-lt"/>
                <a:cs typeface="+mn-lt"/>
              </a:rPr>
              <a:t>intitle:tutoriel Linux
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B299B-47EF-D734-CCAE-82A2F1697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8D375-6757-E294-5BC8-C3AF4179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657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C5AB-B9D7-939E-2CF0-EB02E9CD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D4A5-CD61-A1E5-C40C-E16DCD22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filetype: (type de </a:t>
            </a:r>
            <a:r>
              <a:rPr lang="en-GB" dirty="0" err="1">
                <a:ea typeface="+mj-lt"/>
                <a:cs typeface="+mj-lt"/>
              </a:rPr>
              <a:t>fichier</a:t>
            </a:r>
            <a:r>
              <a:rPr lang="en-GB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0E152-3DE7-2C04-287F-D97E9E3D6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Utilité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Trouver</a:t>
            </a:r>
            <a:r>
              <a:rPr lang="en-GB" dirty="0">
                <a:ea typeface="+mn-lt"/>
                <a:cs typeface="+mn-lt"/>
              </a:rPr>
              <a:t> des documents spécifiques</a:t>
            </a:r>
          </a:p>
          <a:p>
            <a:r>
              <a:rPr lang="en-GB" dirty="0" err="1">
                <a:ea typeface="+mn-lt"/>
                <a:cs typeface="+mn-lt"/>
              </a:rPr>
              <a:t>Exemples</a:t>
            </a:r>
            <a:r>
              <a:rPr lang="en-GB" dirty="0">
                <a:ea typeface="+mn-lt"/>
                <a:cs typeface="+mn-lt"/>
              </a:rPr>
              <a:t> :</a:t>
            </a:r>
          </a:p>
          <a:p>
            <a:r>
              <a:rPr lang="en-GB">
                <a:latin typeface="Consolas"/>
                <a:ea typeface="+mn-lt"/>
                <a:cs typeface="+mn-lt"/>
              </a:rPr>
              <a:t>cours réseau filetype:pdf
</a:t>
            </a:r>
            <a:endParaRPr lang="en-GB"/>
          </a:p>
          <a:p>
            <a:r>
              <a:rPr lang="en-GB" dirty="0">
                <a:latin typeface="Consolas"/>
                <a:ea typeface="+mn-lt"/>
                <a:cs typeface="+mn-lt"/>
              </a:rPr>
              <a:t>planning </a:t>
            </a:r>
            <a:r>
              <a:rPr lang="en-GB" dirty="0" err="1">
                <a:latin typeface="Consolas"/>
                <a:ea typeface="+mn-lt"/>
                <a:cs typeface="+mn-lt"/>
              </a:rPr>
              <a:t>projet</a:t>
            </a:r>
            <a:r>
              <a:rPr lang="en-GB" dirty="0">
                <a:latin typeface="Consolas"/>
                <a:ea typeface="+mn-lt"/>
                <a:cs typeface="+mn-lt"/>
              </a:rPr>
              <a:t> </a:t>
            </a:r>
            <a:r>
              <a:rPr lang="en-GB" dirty="0" err="1">
                <a:latin typeface="Consolas"/>
                <a:ea typeface="+mn-lt"/>
                <a:cs typeface="+mn-lt"/>
              </a:rPr>
              <a:t>filetype:xlsx</a:t>
            </a:r>
            <a:endParaRPr lang="en-GB" dirty="0" err="1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7DB1B-A2A0-A46B-436E-0B1BDCC28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C51C8-8019-3CFB-04C5-80EC1DFEB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062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EE7B-84CC-61CE-73C5-52FDB4DE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C7EF-34AD-5BD7-4F68-665DA228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Astérisque</a:t>
            </a:r>
            <a:r>
              <a:rPr lang="en-GB" dirty="0">
                <a:ea typeface="+mj-lt"/>
                <a:cs typeface="+mj-lt"/>
              </a:rPr>
              <a:t> * (mot </a:t>
            </a:r>
            <a:r>
              <a:rPr lang="en-GB" dirty="0" err="1">
                <a:ea typeface="+mj-lt"/>
                <a:cs typeface="+mj-lt"/>
              </a:rPr>
              <a:t>manquant</a:t>
            </a:r>
            <a:r>
              <a:rPr lang="en-GB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B9ED-8A34-1FCE-8F98-3EBF30B5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Utilité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Compléter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une</a:t>
            </a:r>
            <a:r>
              <a:rPr lang="en-GB" dirty="0">
                <a:ea typeface="+mn-lt"/>
                <a:cs typeface="+mn-lt"/>
              </a:rPr>
              <a:t> phrase inconnue</a:t>
            </a:r>
          </a:p>
          <a:p>
            <a:r>
              <a:rPr lang="en-GB" dirty="0" err="1">
                <a:ea typeface="+mn-lt"/>
                <a:cs typeface="+mn-lt"/>
              </a:rPr>
              <a:t>Exemple</a:t>
            </a:r>
            <a:r>
              <a:rPr lang="en-GB" dirty="0">
                <a:ea typeface="+mn-lt"/>
                <a:cs typeface="+mn-lt"/>
              </a:rPr>
              <a:t> :</a:t>
            </a:r>
          </a:p>
          <a:p>
            <a:r>
              <a:rPr lang="en-GB" dirty="0">
                <a:latin typeface="Consolas"/>
                <a:ea typeface="+mn-lt"/>
                <a:cs typeface="+mn-lt"/>
              </a:rPr>
              <a:t>"les * de la </a:t>
            </a:r>
            <a:r>
              <a:rPr lang="en-GB" dirty="0" err="1">
                <a:latin typeface="Consolas"/>
                <a:ea typeface="+mn-lt"/>
                <a:cs typeface="+mn-lt"/>
              </a:rPr>
              <a:t>programmation</a:t>
            </a:r>
            <a:r>
              <a:rPr lang="en-GB" dirty="0">
                <a:latin typeface="Consolas"/>
                <a:ea typeface="+mn-lt"/>
                <a:cs typeface="+mn-lt"/>
              </a:rPr>
              <a:t>"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DA46-2E50-B201-4440-0E9CD4F83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6A68B-A745-F26D-C5E3-A9C6C9689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65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436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Maîtriser la recherche Google</vt:lpstr>
      <vt:lpstr>Pourquoi bien chercher est important</vt:lpstr>
      <vt:lpstr>Comment Google comprend une recherche</vt:lpstr>
      <vt:lpstr>Bien choisir ses mots-clés</vt:lpstr>
      <vt:lpstr>Les guillemets " " (recherche exacte)</vt:lpstr>
      <vt:lpstr>Le signe moins - (exclure un mot)</vt:lpstr>
      <vt:lpstr>PowerPoint Presentation</vt:lpstr>
      <vt:lpstr>site: (chercher sur un site précis)</vt:lpstr>
      <vt:lpstr>intitle: (mot dans le titre)</vt:lpstr>
      <vt:lpstr>filetype: (type de fichier)</vt:lpstr>
      <vt:lpstr>Astérisque * (mot manquant)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89</cp:revision>
  <dcterms:created xsi:type="dcterms:W3CDTF">2026-01-27T09:30:27Z</dcterms:created>
  <dcterms:modified xsi:type="dcterms:W3CDTF">2026-02-10T12:50:58Z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